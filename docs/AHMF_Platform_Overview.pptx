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Technology &amp; AI-Driven Solutions</a:t>
            </a:r>
          </a:p>
          <a:p>
            <a:pPr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Products Roadmap &amp; Platform Demo — FY2026 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Ashland Hill Media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Platform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From Single-Picture Lender to Integrated Media Platform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AHMF is a centralized, AI-driven operating system purpose-built for private credit and film finance.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Replaces fragmented spreadsheets and siloed workflows with a unified data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9 product modules — all operational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AI-powered intelligence across the full financing lifecycle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Real-time portfolio visibility and deal management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Powered by LangGraph + XAI Grok-3 AI engine</a:t>
            </a:r>
          </a:p>
        </p:txBody>
      </p:sp>
      <p:pic>
        <p:nvPicPr>
          <p:cNvPr id="5" name="Picture 4" descr="01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Film Financing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The core operating system for Ashland Hill's Media Finance unit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Deals — Pipeline dashboard, deal structuring, performance tracking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Contacts — Counterparty profiles, relationship mapping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Sales &amp; Collections — Territory-based revenue tracking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Credit Rating — Distributor/producer scoring, payment reliability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Accounting — Multi-account balance tracking, audit trail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Communications — Task assignment, milestone notifications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2 deals tracked | $20M total committed | Pipeline &amp; Active statuses</a:t>
            </a:r>
          </a:p>
        </p:txBody>
      </p:sp>
      <p:pic>
        <p:nvPicPr>
          <p:cNvPr id="5" name="Picture 4" descr="02_de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Deal Structuring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Comprehensive deal creation with all financing parameters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Title, genre, project type, status (Pipeline/Active/Closed)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Loan amount, interest rate, term in months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Budget, borrower, producer, director, cast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Territory and collateral type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Full audit trail with created_by tracking</a:t>
            </a:r>
          </a:p>
        </p:txBody>
      </p:sp>
      <p:pic>
        <p:nvPicPr>
          <p:cNvPr id="5" name="Picture 4" descr="03_deal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Sales Estimates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Quantitative valuation intelligence for greenlight and collateral appraisal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Script ingestion with PDF parsing + metadata extraction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Genre + comp benchmarking via TMDB &amp; OMDB databases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Territory-level MG projections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Box office forecasting (domestic + international)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Confidence score and model reliability rating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Comparable film analysis with budget, revenue, and cast data</a:t>
            </a:r>
          </a:p>
        </p:txBody>
      </p:sp>
      <p:pic>
        <p:nvPicPr>
          <p:cNvPr id="5" name="Picture 4" descr="06_estim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Production Risk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"Moody's for execution risk"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evaluates 6 risk dimensions on a 0-100 scale: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Script Complexity — locations, stunts, VFX density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Budget Feasibility — budget vs comparable films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Schedule Risk — shoot days vs scope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Jurisdictional Risk — labor laws, permits, stability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Crew/Talent Risk — availability, reliability, concentration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Completion Risk — on-time, on-budget probability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Output: Overall score, risk tier, mitigation recommendations</a:t>
            </a:r>
          </a:p>
        </p:txBody>
      </p:sp>
      <p:pic>
        <p:nvPicPr>
          <p:cNvPr id="5" name="Picture 4" descr="08_risk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Smart Budgeting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Generative budgeting logic + live cost intelligence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generates 3 scenarios: Low / Mid / High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8-12 detailed line items per scenario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Budget Categories: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Above-the-Line (talent, director, producer fees)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Below-the-Line Production (crew, equipment, locations)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Below-the-Line Post (editing, VFX, sound, music)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Insurance &amp; Legal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Financing Costs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Contingency (typically 10%)</a:t>
            </a:r>
          </a:p>
        </p:txBody>
      </p:sp>
      <p:pic>
        <p:nvPicPr>
          <p:cNvPr id="5" name="Picture 4" descr="09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Automated Production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Predictive production efficiency software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generates day-by-day shooting schedules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Location clustering optimization (minimize company moves)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Day/night scene grouping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Actor availability and labor law compliance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Bottleneck prediction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Scenario comparison (schedule A vs B)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Integration with budgeting tool</a:t>
            </a:r>
          </a:p>
        </p:txBody>
      </p:sp>
      <p:pic>
        <p:nvPicPr>
          <p:cNvPr id="5" name="Picture 4" descr="10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Soft Funding 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"Kayak for film incentives"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Database of 16+ global incentive programs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11 countries covered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Average rebate: 27.8%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Top Programs: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Colombia Cash Rebate — 40%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Ireland Section 481 — 32%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Georgia Tax Credit — 30%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Hungary Cash Rebate — 30%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Australia PDV Offset — 30%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Built-in rebate calculator and eligibility filters</a:t>
            </a:r>
          </a:p>
        </p:txBody>
      </p:sp>
      <p:pic>
        <p:nvPicPr>
          <p:cNvPr id="5" name="Picture 4" descr="04_f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5162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Deal Closing &amp; Data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Infrastructure layer for streamlined closings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Auto-generated 20-item closing checklists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6 Categories: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Legal (5 items) — loan agreements, security, completion guarantee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Insurance (3 items) — E&amp;O, production insurance, completion bond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Financial (4 items) — chain of title, budget, lab access, CAMA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Distribution (3 items) — agreements, delivery schedule, MG commitments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Tax Incentives (2 items) — applications, auditor opinion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Compliance (3 items) — KYC/AML, OFAC, board approval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Interactive checkbox tracking with progress bars</a:t>
            </a:r>
          </a:p>
        </p:txBody>
      </p:sp>
      <p:pic>
        <p:nvPicPr>
          <p:cNvPr id="5" name="Picture 4" descr="13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Audience &amp; Marketing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Campaign simulator meets audience heat map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AI-powered audience segmentation (3-5 segments)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Demographic + psychographic clustering with % share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Marketing channel allocation and spend estimates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Release window optimization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Platform strategy (theatrical, streaming, hybrid)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Festival positioning recommendations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Comparable film marketing analysis</a:t>
            </a:r>
          </a:p>
        </p:txBody>
      </p:sp>
      <p:pic>
        <p:nvPicPr>
          <p:cNvPr id="5" name="Picture 4" descr="11_aud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Talent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Taste graph meets market intelligence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Live TMDB actor/director search with popularity data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cast recommendations scored on: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Heat Index (1-10) — current market popularity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Genre Fit (1-10) — alignment with project tone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Salary Tier — Low / Mid / High / Premium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International Sales Impact — Low / Mid / High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Package simulation: test cast combinations for projected revenue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Comparable role analysis from filmography data</a:t>
            </a:r>
          </a:p>
        </p:txBody>
      </p:sp>
      <p:pic>
        <p:nvPicPr>
          <p:cNvPr id="5" name="Picture 4" descr="14_talent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5162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AI Chat — The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14 AI tools accessible via natural language or structured commands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deal:list — View all deals in pipeline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portfolio — Aggregate portfolio statistics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contact:search NAME — Search contact database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incentives — Search global film tax incentives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talent:search NAME — Look up actors/directors via TMDB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risk:new / budget:new / schedule:new — AI analysis tools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audience:new — Audience &amp; marketing prediction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Or ask any question in natural language — AI routes to the right tool</a:t>
            </a:r>
          </a:p>
        </p:txBody>
      </p:sp>
      <p:pic>
        <p:nvPicPr>
          <p:cNvPr id="5" name="Picture 4" descr="15_chat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Technical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Production-grade architecture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Frontend: FastHTML + HTMX (server-rendered, no React/JS frameworks)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Engine: LangGraph + XAI Grok-3 (14 structured tools)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Database: PostgreSQL (28 tables in ahmf schema)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Film Data: TMDB + OMDB APIs (budgets, revenue, cast, ratings)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Auth: Email/password + JWT session management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Deployment: Docker + Coolify (auto-deploy on git push)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Test Suite: 30 automated tests covering all modules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All 9 roadmap products operational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Continued platform depth and integrations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Deepen Product 1: Full CRUD on Sales &amp; Collections, Credit Rating, Accounting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Sales Estimate Pipeline: 5-node LangGraph pipeline (analyze &gt; comps &gt; territory &gt; forecast &gt; report)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PDF Script Ingestion: Upload screenplays for automated analysis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Closing Workflow Automation: Drawdown requests, digital signatures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Portfolio Analytics Dashboard: IRR tracking, collection monitoring, variance analysis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Mobile Responsive: Tablet-optimized layout for on-the-go deal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Joe Simpson — Managing Partner</a:t>
            </a:r>
            <a:br/>
            <a:r>
              <a:t>Ashland Hill Media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Ashland Hill Media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